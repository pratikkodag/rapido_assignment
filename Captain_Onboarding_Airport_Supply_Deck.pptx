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B1. Share of ride requests unfulfilled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Unfulfilled %</c:v>
                </c:pt>
              </c:strCache>
            </c:strRef>
          </c:tx>
          <c:spPr>
            <a:solidFill>
              <a:srgbClr val="22346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34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Day</c:v>
                  </c:pt>
                  <c:pt idx="1">
                    <c:v>Night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13.1</c:v>
                </c:pt>
                <c:pt idx="1">
                  <c:v>68.1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72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ACQUISITION &amp; SUPPLY REVIEW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Captain Onboarding &amp;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Airport Supply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80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and Recommendations  •  Data through June 30, 2026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79476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17285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40233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18.0%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98348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signups become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captains, today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0" y="379476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17285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0" y="40233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+90/mo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498348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approved captains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three fixes below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80960" y="379476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17285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80960" y="40233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498348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airport rides go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unfulfilled at night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—  QUESTION A1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A1. The Onboarding Funnel: Where Captains Drop Off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6675120" cy="3337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010912"/>
            <a:ext cx="95358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410789" y="5010912"/>
            <a:ext cx="95358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2364377" y="5010912"/>
            <a:ext cx="95358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3317966" y="5010912"/>
            <a:ext cx="95358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271554" y="5010912"/>
            <a:ext cx="95358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225143" y="5010912"/>
            <a:ext cx="95358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178731" y="5010912"/>
            <a:ext cx="95358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19,662 signups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4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3,532 approved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53492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is flagged in red: it loses more captains than any other single step.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52360" y="1600200"/>
            <a:ext cx="4160520" cy="4709160"/>
          </a:xfrm>
          <a:prstGeom prst="roundRect">
            <a:avLst>
              <a:gd name="adj" fmla="val 1758"/>
            </a:avLst>
          </a:prstGeom>
          <a:solidFill>
            <a:srgbClr val="17285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26680" y="180136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STAGE-BY-STAGE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26680" y="21945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219456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17,350 / 19,662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652760" y="219456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88.2%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589520" y="2642616"/>
            <a:ext cx="3886200" cy="457200"/>
          </a:xfrm>
          <a:prstGeom prst="rect">
            <a:avLst/>
          </a:prstGeom>
          <a:solidFill>
            <a:srgbClr val="22346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26680" y="26791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098280" y="267919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12,463 / 17,350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652760" y="267919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4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71.8%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726680" y="3163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098280" y="316382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11,086 / 12,463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652760" y="3163824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726680" y="36484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9098280" y="364845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7,059 / 9,402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652760" y="364845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75.1%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7726680" y="41330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098280" y="413308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6,191 / 8,743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0652760" y="41330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70.8%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726680" y="4617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9098280" y="46177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3,888 / 6,191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0652760" y="461772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62.8%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7726680" y="5148072"/>
            <a:ext cx="3611880" cy="9144"/>
          </a:xfrm>
          <a:prstGeom prst="rect">
            <a:avLst/>
          </a:prstGeom>
          <a:solidFill>
            <a:srgbClr val="9AA9C7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726680" y="5285232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(Registration Certificate) loses 4,887 captains, more than any other single step.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—  QUESTIONS A2 &amp; A3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 &amp; A3. What’s Actually Broken at RC, and a Claim Worth Correcting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1728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 —  TWO FIXABLE LEAKS AT RC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rgbClr val="22346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26771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Low-tier devices: blurry photos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624328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of low-tier-device captains fail RC, vs. 21% on high-tier. Verification logs confirm blurred images and low-confidence scans as the cause.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566160"/>
            <a:ext cx="502920" cy="502920"/>
          </a:xfrm>
          <a:prstGeom prst="ellipse">
            <a:avLst/>
          </a:prstGeom>
          <a:solidFill>
            <a:srgbClr val="22346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661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354787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paid_digital: never upload at all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904488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of paid_digital captains abandon before ever submitting an RC photo, vs. 5% of field-assisted signups. An engagement gap, not a photo problem.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68680" y="4937760"/>
            <a:ext cx="4800600" cy="9144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68680" y="5120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+43/mo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2514600" y="5120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+7/mo</a:t>
            </a:r>
            <a:endParaRPr lang="en-US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5669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check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2514600" y="5669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nudge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263640" y="15087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17285A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583680" y="17373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 —  THE CAMP_WA_002 CLAIM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20574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wants to scale this WhatsApp nudge 5x, citing a big completion lift.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6583680" y="26974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trike="sngStrike" dirty="0">
                <a:solidFill>
                  <a:srgbClr val="9AA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18.8pp</a:t>
            </a:r>
            <a:endParaRPr lang="en-US" sz="2800" dirty="0"/>
          </a:p>
        </p:txBody>
      </p:sp>
      <p:sp>
        <p:nvSpPr>
          <p:cNvPr id="23" name="Text 19"/>
          <p:cNvSpPr txBox="1"/>
          <p:nvPr/>
        </p:nvSpPr>
        <p:spPr>
          <a:xfrm>
            <a:off x="658368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lift (unfair comparison)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9098280" y="26974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4.1pp</a:t>
            </a:r>
            <a:endParaRPr lang="en-US" sz="2800" dirty="0"/>
          </a:p>
        </p:txBody>
      </p:sp>
      <p:sp>
        <p:nvSpPr>
          <p:cNvPr id="25" name="Text 21"/>
          <p:cNvSpPr txBox="1"/>
          <p:nvPr/>
        </p:nvSpPr>
        <p:spPr>
          <a:xfrm>
            <a:off x="909828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lift, matched comparison, significant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6583680" y="39319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18.8pp is misleading: the message only sends after a captain clears RC, so recipients already passed the funnel’s hardest step. Comparing them to everyone else favors recipients unfairly.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583680" y="4937760"/>
            <a:ext cx="4800600" cy="9144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583680" y="5120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1.8x</a:t>
            </a:r>
            <a:endParaRPr lang="en-US" sz="2600" dirty="0"/>
          </a:p>
        </p:txBody>
      </p:sp>
      <p:sp>
        <p:nvSpPr>
          <p:cNvPr id="29" name="Text 25"/>
          <p:cNvSpPr txBox="1"/>
          <p:nvPr/>
        </p:nvSpPr>
        <p:spPr>
          <a:xfrm>
            <a:off x="6583680" y="56692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ceiling, not 5x. The eligible pool is only 1.8x current volume.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—  QUESTION A4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A4. Three Fixes, About 90 More Approved Captains a Month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projected monthly impact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17285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606040" y="18288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4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+46/mo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WhatsApp nudge to full coverage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1188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reaches 55% of captains who cleared RC. A 5x increase is not possible; the eligible pool is only 1.8x current volume. Cover the rest instead.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155448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17285A"/>
          </a:solidFill>
          <a:ln/>
        </p:spPr>
      </p:sp>
      <p:sp>
        <p:nvSpPr>
          <p:cNvPr id="12" name="Shape 9"/>
          <p:cNvSpPr/>
          <p:nvPr/>
        </p:nvSpPr>
        <p:spPr>
          <a:xfrm>
            <a:off x="4709160" y="182880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98424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492240" y="18288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4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+43/mo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2651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photo quality check before RC upload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709160" y="361188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Low-tier devices fail RC 34% of the time, versus 21% on high-tier, mostly from blurry photos. Catch it before submission.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321040" y="155448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17285A"/>
          </a:solidFill>
          <a:ln/>
        </p:spPr>
      </p:sp>
      <p:sp>
        <p:nvSpPr>
          <p:cNvPr id="18" name="Shape 14"/>
          <p:cNvSpPr/>
          <p:nvPr/>
        </p:nvSpPr>
        <p:spPr>
          <a:xfrm>
            <a:off x="8595360" y="182880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08" y="198424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378440" y="18288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4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+7/mo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8595360" y="2651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 captains who stall before uploading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595360" y="361188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of paid_digital captains never upload an RC document at all, versus 5% of field-assisted signups. A reminder closes the gap.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impact: approximately +90 approved captains per month, about 13% above the current baseline.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 —  QUESTIONS B1 &amp; B2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 &amp; B2. A Nightly Squeeze, and Why Captains Avoid 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9pm–3am, every night, both months in the data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02152" cy="1051560"/>
          </a:xfrm>
          <a:prstGeom prst="roundRect">
            <a:avLst>
              <a:gd name="adj" fmla="val 6957"/>
            </a:avLst>
          </a:prstGeom>
          <a:solidFill>
            <a:srgbClr val="1728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0876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1508760"/>
            <a:ext cx="1627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unfulfilled ride requests at the airport, every single night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5112" y="1417320"/>
            <a:ext cx="3502152" cy="1051560"/>
          </a:xfrm>
          <a:prstGeom prst="roundRect">
            <a:avLst>
              <a:gd name="adj" fmla="val 6957"/>
            </a:avLst>
          </a:prstGeom>
          <a:solidFill>
            <a:srgbClr val="1728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53712" y="150876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016752" y="1508760"/>
            <a:ext cx="1627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airport requests unfulfilled, versus 3% elsewhere in the city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01584" y="1417320"/>
            <a:ext cx="3502152" cy="1051560"/>
          </a:xfrm>
          <a:prstGeom prst="roundRect">
            <a:avLst>
              <a:gd name="adj" fmla="val 6957"/>
            </a:avLst>
          </a:prstGeom>
          <a:solidFill>
            <a:srgbClr val="1728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30184" y="150876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2.4x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9793224" y="1508760"/>
            <a:ext cx="1627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demand at night, while online captains drop to 35% of daytime levels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48640" y="2697480"/>
          <a:ext cx="49377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852160" y="26974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 —  WHAT HAPPENS AFTER AN AIRPORT TRIP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52160" y="3108960"/>
            <a:ext cx="502920" cy="502920"/>
          </a:xfrm>
          <a:prstGeom prst="ellipse">
            <a:avLst/>
          </a:prstGeom>
          <a:solidFill>
            <a:srgbClr val="17285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3227832"/>
            <a:ext cx="265176" cy="26517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492240" y="303580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 vs 40%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8183880" y="301752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return fare within 20 minutes at night, versus in the day. Captains who finish an airport trip are likelier to be stranded after dark.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852160" y="3950208"/>
            <a:ext cx="502920" cy="502920"/>
          </a:xfrm>
          <a:prstGeom prst="ellipse">
            <a:avLst/>
          </a:prstGeom>
          <a:solidFill>
            <a:srgbClr val="17285A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4069080"/>
            <a:ext cx="265176" cy="26517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492240" y="3877056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8183880" y="38587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return-fare rate for suburban drop-offs, the weakest of the three destinations, and 41% of all airport trips go there.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852160" y="4791456"/>
            <a:ext cx="502920" cy="502920"/>
          </a:xfrm>
          <a:prstGeom prst="ellipse">
            <a:avLst/>
          </a:prstGeom>
          <a:solidFill>
            <a:srgbClr val="17285A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4910328"/>
            <a:ext cx="265176" cy="26517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492240" y="471830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 vs 12%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8183880" y="4700016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night airport pickups get cancelled by the captain, versus in the day. Captains already avoid the trips least likely to pay off.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852160" y="5678424"/>
            <a:ext cx="5760720" cy="777240"/>
          </a:xfrm>
          <a:prstGeom prst="roundRect">
            <a:avLst>
              <a:gd name="adj" fmla="val 9412"/>
            </a:avLst>
          </a:prstGeom>
          <a:solidFill>
            <a:srgbClr val="17285A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6126480" y="5678424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distance is nearly identical day and night. Captains are not avoiding longer trips, they are avoiding trips that strand them without a fare back.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 —  QUESTION B3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B3. Hiring More Captains Is Not the Right First Move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regional team’s proposal: hire captains near the airport, plus a signup bonus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94360" cy="594360"/>
          </a:xfrm>
          <a:prstGeom prst="ellipse">
            <a:avLst/>
          </a:prstGeom>
          <a:solidFill>
            <a:srgbClr val="17285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6916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53619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has already been tried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5349240" y="150876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pricing already reaches about 2x the normal fare at night, near the highest level anywhere in the data. Most demand still goes unfulfilled.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423160"/>
            <a:ext cx="594360" cy="594360"/>
          </a:xfrm>
          <a:prstGeom prst="ellipse">
            <a:avLst/>
          </a:prstGeom>
          <a:solidFill>
            <a:srgbClr val="17285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256032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240487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captains face the same odds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5349240" y="237744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newly hired does not change the chance of getting a fare back after an airport drop-off.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291840"/>
            <a:ext cx="594360" cy="594360"/>
          </a:xfrm>
          <a:prstGeom prst="ellipse">
            <a:avLst/>
          </a:prstGeom>
          <a:solidFill>
            <a:srgbClr val="17285A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342900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71600" y="327355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headcount math is steep</a:t>
            </a:r>
            <a:endParaRPr lang="en-US" sz="1450" dirty="0"/>
          </a:p>
        </p:txBody>
      </p:sp>
      <p:sp>
        <p:nvSpPr>
          <p:cNvPr id="17" name="Text 11"/>
          <p:cNvSpPr txBox="1"/>
          <p:nvPr/>
        </p:nvSpPr>
        <p:spPr>
          <a:xfrm>
            <a:off x="5349240" y="324612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closing the gap needs almost triple the current night captains online, from about 13 to about 41, every single night.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48640" y="42976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C9A227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57200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63040" y="42976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E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instead: guarantee a minimum return fare for night airport trips, especially to suburban drop-offs. Pilot a queueing system so a waiting captain is guaranteed the next fare. Re-measure, then size any remaining acquisition need against the smaller, real gap.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5532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852160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914400" y="581558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Onboarding: ship the RC photo check and expand CAMP_WA_002 coverage (Product / Growth)</a:t>
            </a:r>
            <a:endParaRPr lang="en-US" sz="12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236208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14400" y="61996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Airport: design the return-fare guarantee and pilot the queueing system (Ops)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2026-09-14T01:36:48Z</dcterms:created>
  <dcterms:modified xsi:type="dcterms:W3CDTF">2026-09-14T01:36:48Z</dcterms:modified>
</cp:coreProperties>
</file>